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96195"/>
  </p:normalViewPr>
  <p:slideViewPr>
    <p:cSldViewPr snapToGrid="0" snapToObjects="1">
      <p:cViewPr varScale="1">
        <p:scale>
          <a:sx n="110" d="100"/>
          <a:sy n="110" d="100"/>
        </p:scale>
        <p:origin x="208" y="10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640080" cy="64008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29968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7090D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96596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6974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 i="0">
                <a:solidFill>
                  <a:srgbClr val="8A95A8"/>
                </a:solidFill>
                <a:latin typeface="Calibri"/>
              </a:defRPr>
            </a:pPr>
            <a:r>
              <a:t>DCT Infrastructure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3474720"/>
            <a:ext cx="6400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5B6577"/>
                </a:solidFill>
                <a:latin typeface="Calibri"/>
              </a:defRPr>
            </a:pPr>
            <a:r>
              <a:t>An internal tool for querying data center cutsheets</a:t>
            </a:r>
            <a:br/>
            <a:r>
              <a:t>using natural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5B6577"/>
                </a:solidFill>
                <a:latin typeface="Calibri"/>
              </a:defRPr>
            </a:pPr>
            <a:r>
              <a:t>CoreWeave  ·  DC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1051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73152" cy="105156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664207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5EEAD4"/>
                </a:solidFill>
                <a:latin typeface="Calibri"/>
              </a:defRPr>
            </a:pPr>
            <a:r>
              <a:rPr lang="en-US" dirty="0"/>
              <a:t>1000’s of connections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601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t>Each Ellendale master cutsheet has thousands of rows across multiple data halls. Finding a single optic count means scrolling through the entire workbook.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0332720" cy="1051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278892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89864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38BDF8"/>
                </a:solidFill>
                <a:latin typeface="Calibri"/>
              </a:defRPr>
            </a:pPr>
            <a:r>
              <a:t>Manual cross-referencing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9601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Answering "how many QSFP-DD in DH202?" requires filtering by data hall, section, optic type, and status. One mistake skews the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332720" cy="1051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73152" cy="10515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3308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818CF8"/>
                </a:solidFill>
                <a:latin typeface="Calibri"/>
              </a:defRPr>
            </a:pPr>
            <a:r>
              <a:t>No single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9601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t>NetBox, cutsheets, and build sheets each hold partial views. Comparing them takes hours of manual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57800"/>
            <a:ext cx="10332720" cy="1051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5257800"/>
            <a:ext cx="73152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367528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BBF24"/>
                </a:solidFill>
                <a:latin typeface="Calibri"/>
              </a:defRPr>
            </a:pPr>
            <a:r>
              <a:t>Tribal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715000"/>
            <a:ext cx="9601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t>Only a few people know how to navigate these files. When they're unavailable, the team waits.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What Atlas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8A95A8"/>
                </a:solidFill>
                <a:latin typeface="Calibri"/>
              </a:defRPr>
            </a:pPr>
            <a:r>
              <a:t>Upload a cutsheet. Ask a question. Get an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246120" cy="39319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88720" y="2331720"/>
            <a:ext cx="731520" cy="3200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Natural Language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2743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t>Ask questions like "How many QSFP-DD optics are in DH202?" and get accurate, sourced answers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389120"/>
            <a:ext cx="109728" cy="109728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4352544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30+ query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736592"/>
            <a:ext cx="109728" cy="109728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700016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Parameterized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5084064"/>
            <a:ext cx="109728" cy="109728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504748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No hallucinated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03120"/>
            <a:ext cx="3246120" cy="39319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09159" y="2331720"/>
            <a:ext cx="7315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59" y="2331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Live </a:t>
            </a:r>
            <a:r>
              <a:rPr dirty="0" err="1"/>
              <a:t>NetBox</a:t>
            </a:r>
            <a:r>
              <a:rPr dirty="0"/>
              <a:t> Dashboard</a:t>
            </a:r>
            <a:r>
              <a:rPr lang="en-US" dirty="0"/>
              <a:t> (sperate program)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709159" y="3246120"/>
            <a:ext cx="2743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Real-time fleet visibility across all sites. Device counts, optic breakdowns, and per-rack density updated every 15 minutes.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59" y="4389120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59" y="4352544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Auto site discovery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4736592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59" y="4700016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Parallel ingestion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5084064"/>
            <a:ext cx="109728" cy="1097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504748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Chart.js visualization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103120"/>
            <a:ext cx="3246120" cy="39319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0" y="2331720"/>
            <a:ext cx="731520" cy="3200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2331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834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Rack Analyzer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2743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8A95A8"/>
                </a:solidFill>
                <a:latin typeface="Calibri"/>
              </a:defRPr>
            </a:pPr>
            <a:r>
              <a:t>Drill into any rack: see every device, optic, and cable. Download labels as CSV for install day.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389120"/>
            <a:ext cx="109728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4352544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Internal + outgoing cables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736592"/>
            <a:ext cx="109728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4700016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Cab type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5084064"/>
            <a:ext cx="109728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5047488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Bulk label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1560" y="1645920"/>
            <a:ext cx="594360" cy="59436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916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0">
                <a:solidFill>
                  <a:srgbClr val="5B6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5EEAD4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Excel cutsheet</a:t>
            </a:r>
            <a:br/>
            <a:r>
              <a:t>uploaded via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594360" cy="5943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916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0">
                <a:solidFill>
                  <a:srgbClr val="5B6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38BDF8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Normalize statuses,</a:t>
            </a:r>
            <a:br/>
            <a:r>
              <a:t>strip headers, profile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599" y="1645920"/>
            <a:ext cx="594360" cy="5943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599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19" y="16916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0">
                <a:solidFill>
                  <a:srgbClr val="5B6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818CF8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Postgres ingest with</a:t>
            </a:r>
            <a:br/>
            <a:r>
              <a:t>dedup and savepoints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19" y="1645920"/>
            <a:ext cx="594360" cy="5943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19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6916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0">
                <a:solidFill>
                  <a:srgbClr val="5B6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BBF24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Intent router picks</a:t>
            </a:r>
            <a:br/>
            <a:r>
              <a:t>from 30+ query 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1645920"/>
            <a:ext cx="594360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16916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 i="0">
                <a:solidFill>
                  <a:srgbClr val="5B6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34D399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Parameterized SQL</a:t>
            </a:r>
            <a:br/>
            <a:r>
              <a:t>template executes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1645920"/>
            <a:ext cx="5943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24160" y="1664208"/>
            <a:ext cx="594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7090D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24688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880360"/>
            <a:ext cx="1463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LLM summarizes</a:t>
            </a:r>
            <a:br/>
            <a:r>
              <a:t>real query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31920"/>
            <a:ext cx="10332720" cy="219456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80160" y="4114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5EEAD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617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EEAD4"/>
                </a:solidFill>
                <a:latin typeface="Calibri"/>
              </a:rPr>
              <a:t>●  </a:t>
            </a:r>
            <a:r>
              <a:rPr sz="1100" b="1">
                <a:solidFill>
                  <a:srgbClr val="5EEAD4"/>
                </a:solidFill>
                <a:latin typeface="Calibri"/>
              </a:rPr>
              <a:t>Zero LLM-generated SQL  —  </a:t>
            </a:r>
            <a:r>
              <a:rPr sz="1100">
                <a:solidFill>
                  <a:srgbClr val="8A95A8"/>
                </a:solidFill>
                <a:latin typeface="Calibri"/>
              </a:rPr>
              <a:t>Every query is a pre-built parameterized template. The AI classifies the question, Postgres returns the data. No prompt injection. No hallucinated tables.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206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8BDF8"/>
                </a:solidFill>
                <a:latin typeface="Calibri"/>
              </a:rPr>
              <a:t>●  </a:t>
            </a:r>
            <a:r>
              <a:rPr sz="1100" b="1">
                <a:solidFill>
                  <a:srgbClr val="38BDF8"/>
                </a:solidFill>
                <a:latin typeface="Calibri"/>
              </a:rPr>
              <a:t>Breakout-aware optic counting  —  </a:t>
            </a:r>
            <a:r>
              <a:rPr sz="1100">
                <a:solidFill>
                  <a:srgbClr val="8A95A8"/>
                </a:solidFill>
                <a:latin typeface="Calibri"/>
              </a:rPr>
              <a:t>QSFP-DD breakouts generate 4 connection rows per physical optic. Atlas deduplicates by port identity so counts match physical reality.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6235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18CF8"/>
                </a:solidFill>
                <a:latin typeface="Calibri"/>
              </a:rPr>
              <a:t>●  </a:t>
            </a:r>
            <a:r>
              <a:rPr sz="1100" b="1">
                <a:solidFill>
                  <a:srgbClr val="818CF8"/>
                </a:solidFill>
                <a:latin typeface="Calibri"/>
              </a:rPr>
              <a:t>Background ingest  —  </a:t>
            </a:r>
            <a:r>
              <a:rPr sz="1100">
                <a:solidFill>
                  <a:srgbClr val="8A95A8"/>
                </a:solidFill>
                <a:latin typeface="Calibri"/>
              </a:rPr>
              <a:t>Large cutsheets (19MB+) load into Postgres in a background thread. The UI returns optic counts immediately while the database catches up.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30+ query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8A95A8"/>
                </a:solidFill>
                <a:latin typeface="Calibri"/>
              </a:defRPr>
            </a:pPr>
            <a:r>
              <a:t>Every question is classified and routed to the right SQL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5EEAD4"/>
                </a:solidFill>
                <a:latin typeface="Calibri"/>
              </a:defRPr>
            </a:pPr>
            <a:r>
              <a:t>Optics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14600"/>
            <a:ext cx="91440" cy="914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4688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Optic counts by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862072"/>
            <a:ext cx="91440" cy="914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81635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Optic counts by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09544"/>
            <a:ext cx="91440" cy="914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16382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Per-side breakout dedup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557016"/>
            <a:ext cx="91440" cy="9144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511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Port utilization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965960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2103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38BDF8"/>
                </a:solidFill>
                <a:latin typeface="Calibri"/>
              </a:defRPr>
            </a:pPr>
            <a:r>
              <a:t>Devices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514600"/>
            <a:ext cx="91440" cy="91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59" y="24688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Model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2862072"/>
            <a:ext cx="91440" cy="91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281635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Device list by hall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59" y="3209544"/>
            <a:ext cx="91440" cy="91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59" y="316382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Device 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557016"/>
            <a:ext cx="91440" cy="914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59" y="3511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Node compute info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965960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103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818CF8"/>
                </a:solidFill>
                <a:latin typeface="Calibri"/>
              </a:defRPr>
            </a:pPr>
            <a:r>
              <a:t>Connections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514600"/>
            <a:ext cx="91440" cy="914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4688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Connection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862072"/>
            <a:ext cx="91440" cy="914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281635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Cable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209544"/>
            <a:ext cx="91440" cy="914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316382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Cable type 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557016"/>
            <a:ext cx="91440" cy="9144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3511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Link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297679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BBF24"/>
                </a:solidFill>
                <a:latin typeface="Calibri"/>
              </a:defRPr>
            </a:pPr>
            <a:r>
              <a:t>Topology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4846319"/>
            <a:ext cx="91440" cy="91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17320" y="480059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Rack summary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5193791"/>
            <a:ext cx="91440" cy="91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17320" y="514807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Section summary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20" y="5541263"/>
            <a:ext cx="91440" cy="91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20" y="5495543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Section completion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5888736"/>
            <a:ext cx="91440" cy="914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17320" y="584301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Data hall summary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40" y="4297679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09159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34D399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09159" y="4846319"/>
            <a:ext cx="91440" cy="91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7759" y="480059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LLDP failures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59" y="5193791"/>
            <a:ext cx="91440" cy="91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7759" y="514807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Neighbor mismatch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09159" y="5541263"/>
            <a:ext cx="91440" cy="91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37759" y="5495543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IP lookup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09159" y="5888736"/>
            <a:ext cx="91440" cy="91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37759" y="584301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Role lookup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5279" y="4297679"/>
            <a:ext cx="3246120" cy="20574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87171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4846319"/>
            <a:ext cx="91440" cy="914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58200" y="4800599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Cross-site comparison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5193791"/>
            <a:ext cx="91440" cy="914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514807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Upload diff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541263"/>
            <a:ext cx="91440" cy="914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58200" y="5495543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Status trends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5888736"/>
            <a:ext cx="91440" cy="914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58200" y="584301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E5E9F0"/>
                </a:solidFill>
                <a:latin typeface="Calibri"/>
              </a:defRPr>
            </a:pPr>
            <a:r>
              <a:t>Section trends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Sample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"How many QSFP-DD optics are in DH202?"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53619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optic_count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Counts physical optics with breakout dedup, filtered by data hall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04288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395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"What devices are in rack 041?"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95728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rack_summary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95728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Every device, optic, and cable touching that 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45536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"Summarize the SPINE section"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36976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218688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section_summary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36976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Device and connection counts within a logical cutsheet section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86784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078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"What connections are still pending?"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78224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59936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connection_status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78224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Filters by normalized status across all data halls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28032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"What cable types are used in DH204?"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19472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901184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cable_type_summary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919472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DAC vs AOC vs fiber breakdown per data hall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669280"/>
            <a:ext cx="10332720" cy="6858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"Compare this upload to the previous one"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60720"/>
            <a:ext cx="1463040" cy="27432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5742432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 i="0">
                <a:solidFill>
                  <a:srgbClr val="07090D"/>
                </a:solidFill>
                <a:latin typeface="Calibri"/>
              </a:defRPr>
            </a:pPr>
            <a:r>
              <a:t>upload_diff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760720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Shows added, removed, and changed connections between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965960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508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5EEAD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Query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8A95A8"/>
                </a:solidFill>
                <a:latin typeface="Calibri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886200" y="1554480"/>
            <a:ext cx="1965960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40" y="1645920"/>
            <a:ext cx="1508760" cy="69769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818CF8"/>
                </a:solidFill>
                <a:latin typeface="Calibri"/>
              </a:defRPr>
            </a:pPr>
            <a:r>
              <a:rPr dirty="0"/>
              <a:t>&lt;3s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500" y="248077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Avg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508760"/>
            <a:ext cx="1965960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9420" y="1626806"/>
            <a:ext cx="1508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FBBF24"/>
                </a:solidFill>
                <a:latin typeface="Calibri"/>
              </a:defRPr>
            </a:pPr>
            <a:r>
              <a:rPr dirty="0"/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9420" y="219456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Data Halls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469540"/>
            <a:ext cx="1965960" cy="13716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38360" y="1703538"/>
            <a:ext cx="1508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34D399"/>
                </a:solidFill>
                <a:latin typeface="Calibri"/>
              </a:defRPr>
            </a:pPr>
            <a:r>
              <a:rPr lang="en-US" dirty="0"/>
              <a:t>NO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829800" y="242316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SQL Injection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83280"/>
            <a:ext cx="10332720" cy="283464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3566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5EEAD4"/>
                </a:solidFill>
                <a:latin typeface="Calibri"/>
              </a:defRPr>
            </a:pPr>
            <a:r>
              <a:t>What this means for DC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Faster answers  —  </a:t>
            </a:r>
            <a:r>
              <a:rPr sz="1200">
                <a:solidFill>
                  <a:srgbClr val="8A95A8"/>
                </a:solidFill>
                <a:latin typeface="Calibri"/>
              </a:rPr>
              <a:t>Questions that took 20-30 minutes of spreadsheet work now take seconds. Upload once, query all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451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Fewer errors  —  </a:t>
            </a:r>
            <a:r>
              <a:rPr sz="1200">
                <a:solidFill>
                  <a:srgbClr val="8A95A8"/>
                </a:solidFill>
                <a:latin typeface="Calibri"/>
              </a:rPr>
              <a:t>Parameterized queries eliminate manual filter mistakes. Breakout dedup catches the 4x overcounting problem.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755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Operational visibility  —  </a:t>
            </a:r>
            <a:r>
              <a:rPr sz="1200">
                <a:solidFill>
                  <a:srgbClr val="8A95A8"/>
                </a:solidFill>
                <a:latin typeface="Calibri"/>
              </a:rPr>
              <a:t>The live dashboard gives leadership a real-time view of fleet status without asking anyone to pull a report.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7058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Knowledge democratization  —  </a:t>
            </a:r>
            <a:r>
              <a:rPr sz="1200">
                <a:solidFill>
                  <a:srgbClr val="8A95A8"/>
                </a:solidFill>
                <a:latin typeface="Calibri"/>
              </a:rPr>
              <a:t>Anyone with browser access can query cutsheet data. No spreadsheet expertise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371600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64008" cy="65836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5EEAD4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2763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Python  / 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2763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REST API with rate limiting, HMAC auth, SSE 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59152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359152"/>
            <a:ext cx="64008" cy="6583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4323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38BDF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323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0422" y="2432304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Parameterized SQL, materialized views, CTE-based dedup</a:t>
            </a:r>
            <a:r>
              <a:rPr lang="en-US" dirty="0"/>
              <a:t>lication, all heavy lifting performed here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914400" y="3163824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163824"/>
            <a:ext cx="64008" cy="65836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818CF8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3697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Anthropic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36976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rPr dirty="0"/>
              <a:t>Intent classification + answer summarization (no SQL generation)</a:t>
            </a:r>
            <a:r>
              <a:rPr lang="en-US" dirty="0"/>
              <a:t> token count minimization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914400" y="3968496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968496"/>
            <a:ext cx="64008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04164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BBF24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04164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Calamine + openpyxl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041648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High-speed Excel parsing with profile-based column mapping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73168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773168"/>
            <a:ext cx="64008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846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34D399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8463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Docker  /  Kind  /  Helm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846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Containerized, ready for cluster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77840"/>
            <a:ext cx="10332720" cy="658368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1F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5577840"/>
            <a:ext cx="64008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565099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8717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65099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Vanilla JS + Chart.js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650992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8A95A8"/>
                </a:solidFill>
                <a:latin typeface="Calibri"/>
              </a:defRPr>
            </a:pPr>
            <a:r>
              <a:t>No framework overhead. Dashboard uses Tailwind CDN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 i="0">
                <a:solidFill>
                  <a:srgbClr val="5B6577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2377440"/>
            <a:ext cx="640080" cy="64008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95728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 i="0">
                <a:solidFill>
                  <a:srgbClr val="07090D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3317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063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 i="0">
                <a:solidFill>
                  <a:srgbClr val="8A95A8"/>
                </a:solidFill>
                <a:latin typeface="Calibri"/>
              </a:defRPr>
            </a:pPr>
            <a:r>
              <a:t>DCT Infrastructure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5B6577"/>
                </a:solidFill>
                <a:latin typeface="Calibri"/>
              </a:defRPr>
            </a:pPr>
            <a:r>
              <a:t>Built by Lamar Wells  ·  Inventory Control  ·  CoreWeave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DA0863-0BD1-9244-8508-FFD5FDA12A51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822</Words>
  <Application>Microsoft Macintosh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Lamar Wells</cp:lastModifiedBy>
  <cp:revision>2</cp:revision>
  <dcterms:created xsi:type="dcterms:W3CDTF">2013-01-27T09:14:16Z</dcterms:created>
  <dcterms:modified xsi:type="dcterms:W3CDTF">2026-05-30T04:34:54Z</dcterms:modified>
  <cp:category/>
</cp:coreProperties>
</file>